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75" r:id="rId5"/>
    <p:sldId id="264" r:id="rId6"/>
    <p:sldId id="265" r:id="rId7"/>
    <p:sldId id="270" r:id="rId8"/>
    <p:sldId id="276" r:id="rId9"/>
    <p:sldId id="27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10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98DB"/>
    <a:srgbClr val="FFFFFF"/>
    <a:srgbClr val="191B31"/>
    <a:srgbClr val="1A1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éma alapján készült stílus 1 – 1. jelölőszín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-90"/>
      </p:cViewPr>
      <p:guideLst>
        <p:guide pos="3840"/>
        <p:guide orient="horz" pos="10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BB2CA-CE24-4094-846B-21199E134C6A}" type="datetimeFigureOut">
              <a:rPr lang="hu-HU" smtClean="0"/>
              <a:t>2026.04.28.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FE29-1093-4636-84E9-D17F2EBD7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2821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BB2CA-CE24-4094-846B-21199E134C6A}" type="datetimeFigureOut">
              <a:rPr lang="hu-HU" smtClean="0"/>
              <a:t>2026.04.28.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FE29-1093-4636-84E9-D17F2EBD7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0235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BB2CA-CE24-4094-846B-21199E134C6A}" type="datetimeFigureOut">
              <a:rPr lang="hu-HU" smtClean="0"/>
              <a:t>2026.04.28.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FE29-1093-4636-84E9-D17F2EBD7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073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BB2CA-CE24-4094-846B-21199E134C6A}" type="datetimeFigureOut">
              <a:rPr lang="hu-HU" smtClean="0"/>
              <a:t>2026.04.28.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FE29-1093-4636-84E9-D17F2EBD7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643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BB2CA-CE24-4094-846B-21199E134C6A}" type="datetimeFigureOut">
              <a:rPr lang="hu-HU" smtClean="0"/>
              <a:t>2026.04.28.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FE29-1093-4636-84E9-D17F2EBD7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8126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BB2CA-CE24-4094-846B-21199E134C6A}" type="datetimeFigureOut">
              <a:rPr lang="hu-HU" smtClean="0"/>
              <a:t>2026.04.28.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FE29-1093-4636-84E9-D17F2EBD7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70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BB2CA-CE24-4094-846B-21199E134C6A}" type="datetimeFigureOut">
              <a:rPr lang="hu-HU" smtClean="0"/>
              <a:t>2026.04.28.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FE29-1093-4636-84E9-D17F2EBD7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7709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BB2CA-CE24-4094-846B-21199E134C6A}" type="datetimeFigureOut">
              <a:rPr lang="hu-HU" smtClean="0"/>
              <a:t>2026.04.28.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FE29-1093-4636-84E9-D17F2EBD7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9449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BB2CA-CE24-4094-846B-21199E134C6A}" type="datetimeFigureOut">
              <a:rPr lang="hu-HU" smtClean="0"/>
              <a:t>2026.04.28.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FE29-1093-4636-84E9-D17F2EBD7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111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BB2CA-CE24-4094-846B-21199E134C6A}" type="datetimeFigureOut">
              <a:rPr lang="hu-HU" smtClean="0"/>
              <a:t>2026.04.28.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FE29-1093-4636-84E9-D17F2EBD7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8116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BB2CA-CE24-4094-846B-21199E134C6A}" type="datetimeFigureOut">
              <a:rPr lang="hu-HU" smtClean="0"/>
              <a:t>2026.04.28.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FE29-1093-4636-84E9-D17F2EBD7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161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BB2CA-CE24-4094-846B-21199E134C6A}" type="datetimeFigureOut">
              <a:rPr lang="hu-HU" smtClean="0"/>
              <a:t>2026.04.28.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FFE29-1093-4636-84E9-D17F2EBD795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397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églalap 9"/>
          <p:cNvSpPr/>
          <p:nvPr/>
        </p:nvSpPr>
        <p:spPr>
          <a:xfrm rot="21377470">
            <a:off x="-42909" y="5913263"/>
            <a:ext cx="12489499" cy="1497412"/>
          </a:xfrm>
          <a:prstGeom prst="rect">
            <a:avLst/>
          </a:prstGeom>
          <a:solidFill>
            <a:srgbClr val="1A1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/>
          <p:cNvSpPr/>
          <p:nvPr/>
        </p:nvSpPr>
        <p:spPr>
          <a:xfrm rot="225713">
            <a:off x="-195309" y="5760863"/>
            <a:ext cx="12489499" cy="14974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409567" y="1336907"/>
            <a:ext cx="7372865" cy="1763541"/>
          </a:xfrm>
        </p:spPr>
        <p:txBody>
          <a:bodyPr/>
          <a:lstStyle/>
          <a:p>
            <a:r>
              <a:rPr lang="hu-HU" dirty="0"/>
              <a:t>Prezentáció a batech.hu weboldalról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47540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Készítették: Ravasz Rómeó, Gaál Dominik</a:t>
            </a:r>
          </a:p>
          <a:p>
            <a:r>
              <a:rPr lang="hu-HU" dirty="0"/>
              <a:t>Projekttémavezető: Kovács László</a:t>
            </a:r>
          </a:p>
        </p:txBody>
      </p:sp>
      <p:sp>
        <p:nvSpPr>
          <p:cNvPr id="6" name="Téglalap 5"/>
          <p:cNvSpPr/>
          <p:nvPr/>
        </p:nvSpPr>
        <p:spPr>
          <a:xfrm rot="21430957">
            <a:off x="-319871" y="-364482"/>
            <a:ext cx="12656892" cy="1530097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4" y="6328568"/>
            <a:ext cx="1162212" cy="362001"/>
          </a:xfrm>
          <a:prstGeom prst="rect">
            <a:avLst/>
          </a:prstGeom>
        </p:spPr>
      </p:pic>
      <p:sp>
        <p:nvSpPr>
          <p:cNvPr id="9" name="Téglalap 8"/>
          <p:cNvSpPr/>
          <p:nvPr/>
        </p:nvSpPr>
        <p:spPr>
          <a:xfrm rot="190554">
            <a:off x="-167471" y="-212082"/>
            <a:ext cx="12656892" cy="1530097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8082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/>
          <p:nvPr/>
        </p:nvSpPr>
        <p:spPr>
          <a:xfrm rot="21377470">
            <a:off x="-195309" y="5760863"/>
            <a:ext cx="12489499" cy="1497412"/>
          </a:xfrm>
          <a:prstGeom prst="rect">
            <a:avLst/>
          </a:prstGeom>
          <a:solidFill>
            <a:srgbClr val="1A1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/>
          <p:cNvSpPr/>
          <p:nvPr/>
        </p:nvSpPr>
        <p:spPr>
          <a:xfrm rot="190554">
            <a:off x="-319871" y="-364482"/>
            <a:ext cx="12656892" cy="1530097"/>
          </a:xfrm>
          <a:prstGeom prst="rect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Szövegdoboz 13"/>
          <p:cNvSpPr txBox="1"/>
          <p:nvPr/>
        </p:nvSpPr>
        <p:spPr>
          <a:xfrm>
            <a:off x="33556" y="118523"/>
            <a:ext cx="2667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A Probléma</a:t>
            </a:r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4" y="6328568"/>
            <a:ext cx="1162212" cy="362001"/>
          </a:xfrm>
          <a:prstGeom prst="rect">
            <a:avLst/>
          </a:prstGeom>
        </p:spPr>
      </p:pic>
      <p:sp>
        <p:nvSpPr>
          <p:cNvPr id="15" name="Szövegdoboz 14">
            <a:extLst>
              <a:ext uri="{FF2B5EF4-FFF2-40B4-BE49-F238E27FC236}">
                <a16:creationId xmlns:a16="http://schemas.microsoft.com/office/drawing/2014/main" id="{EDE12442-57AB-4E8C-8B6B-3DD781866EA5}"/>
              </a:ext>
            </a:extLst>
          </p:cNvPr>
          <p:cNvSpPr txBox="1"/>
          <p:nvPr/>
        </p:nvSpPr>
        <p:spPr>
          <a:xfrm>
            <a:off x="143825" y="2015319"/>
            <a:ext cx="738909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hu-HU" sz="2400" dirty="0"/>
              <a:t>- A víz- és gázszerelőkhöz ma még legtöbbször telefonálni kell időpontért.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- Ez macerás, időigényes, és gyakran félreértésekhez vezet.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- A szerelőnek ez plusz adminisztrációs teher.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- Ezt a problémát oldja meg a </a:t>
            </a:r>
            <a:r>
              <a:rPr lang="hu-HU" sz="2400" dirty="0" err="1"/>
              <a:t>BaTech</a:t>
            </a:r>
            <a:r>
              <a:rPr lang="hu-HU" sz="2400" dirty="0"/>
              <a:t>.</a:t>
            </a:r>
          </a:p>
        </p:txBody>
      </p:sp>
      <p:pic>
        <p:nvPicPr>
          <p:cNvPr id="1026" name="Picture 2" descr="Frustrated angry man in vest suit showing mobile, cell or smartphone • wall  stickers male, character, human | myloview.com">
            <a:extLst>
              <a:ext uri="{FF2B5EF4-FFF2-40B4-BE49-F238E27FC236}">
                <a16:creationId xmlns:a16="http://schemas.microsoft.com/office/drawing/2014/main" id="{9A3AD3A3-96CB-417E-BDE6-13A40E518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911" y="1502521"/>
            <a:ext cx="3190393" cy="383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1715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/>
          <p:nvPr/>
        </p:nvSpPr>
        <p:spPr>
          <a:xfrm rot="225713">
            <a:off x="-195309" y="5760863"/>
            <a:ext cx="12489499" cy="1497412"/>
          </a:xfrm>
          <a:prstGeom prst="rect">
            <a:avLst/>
          </a:prstGeom>
          <a:solidFill>
            <a:srgbClr val="1A1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/>
          <p:cNvSpPr/>
          <p:nvPr/>
        </p:nvSpPr>
        <p:spPr>
          <a:xfrm rot="21430957">
            <a:off x="-319871" y="-364482"/>
            <a:ext cx="12656892" cy="1530097"/>
          </a:xfrm>
          <a:prstGeom prst="rect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/>
          <p:cNvSpPr txBox="1"/>
          <p:nvPr/>
        </p:nvSpPr>
        <p:spPr>
          <a:xfrm>
            <a:off x="0" y="138956"/>
            <a:ext cx="4924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A Megoldás</a:t>
            </a:r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4" y="6328568"/>
            <a:ext cx="1162212" cy="362001"/>
          </a:xfrm>
          <a:prstGeom prst="rect">
            <a:avLst/>
          </a:prstGeom>
        </p:spPr>
      </p:pic>
      <p:sp>
        <p:nvSpPr>
          <p:cNvPr id="14" name="Szövegdoboz 13">
            <a:extLst>
              <a:ext uri="{FF2B5EF4-FFF2-40B4-BE49-F238E27FC236}">
                <a16:creationId xmlns:a16="http://schemas.microsoft.com/office/drawing/2014/main" id="{942CD4D4-CEC1-46FD-AC10-8F3E5522DEF1}"/>
              </a:ext>
            </a:extLst>
          </p:cNvPr>
          <p:cNvSpPr txBox="1"/>
          <p:nvPr/>
        </p:nvSpPr>
        <p:spPr>
          <a:xfrm>
            <a:off x="143825" y="1598020"/>
            <a:ext cx="6307309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hu-HU" sz="2400" dirty="0"/>
              <a:t>- A </a:t>
            </a:r>
            <a:r>
              <a:rPr lang="hu-HU" sz="2400" dirty="0" err="1"/>
              <a:t>BaTech</a:t>
            </a:r>
            <a:r>
              <a:rPr lang="hu-HU" sz="2400" dirty="0"/>
              <a:t> egy weboldal, ahol az ügyfél pár kattintással foglalhat időpontot.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- A szerelő egy </a:t>
            </a:r>
            <a:r>
              <a:rPr lang="hu-HU" sz="2400" dirty="0" err="1"/>
              <a:t>admin</a:t>
            </a:r>
            <a:r>
              <a:rPr lang="hu-HU" sz="2400" dirty="0"/>
              <a:t> panelből kezelheti az összes foglalást.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- A rendszer 24 órában elérhető, akár mobilról is.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- Ezzel időt és energiát spórol mindenki.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24CD7F0-75A7-4DD0-BBEE-2044E9599E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83" t="15219" r="29010" b="11742"/>
          <a:stretch/>
        </p:blipFill>
        <p:spPr>
          <a:xfrm>
            <a:off x="7999476" y="3601920"/>
            <a:ext cx="2712291" cy="222353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C7A0E4C5-EBB1-455A-B053-99242B1FD5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7712" r="1502" b="10490"/>
          <a:stretch/>
        </p:blipFill>
        <p:spPr>
          <a:xfrm>
            <a:off x="6879232" y="1187627"/>
            <a:ext cx="4952780" cy="231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193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églalap 12">
            <a:extLst>
              <a:ext uri="{FF2B5EF4-FFF2-40B4-BE49-F238E27FC236}">
                <a16:creationId xmlns:a16="http://schemas.microsoft.com/office/drawing/2014/main" id="{DA29C74F-45F8-46FD-9700-7F4E3C1FB4D8}"/>
              </a:ext>
            </a:extLst>
          </p:cNvPr>
          <p:cNvSpPr/>
          <p:nvPr/>
        </p:nvSpPr>
        <p:spPr>
          <a:xfrm rot="190554">
            <a:off x="-319871" y="-364482"/>
            <a:ext cx="12656892" cy="1530097"/>
          </a:xfrm>
          <a:prstGeom prst="rect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A2AA0166-171F-4BCD-A3DF-C70CC27C00DB}"/>
              </a:ext>
            </a:extLst>
          </p:cNvPr>
          <p:cNvSpPr/>
          <p:nvPr/>
        </p:nvSpPr>
        <p:spPr>
          <a:xfrm rot="21377470">
            <a:off x="-195309" y="5760863"/>
            <a:ext cx="12489499" cy="1497412"/>
          </a:xfrm>
          <a:prstGeom prst="rect">
            <a:avLst/>
          </a:prstGeom>
          <a:solidFill>
            <a:srgbClr val="1A1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11" name="Tábláza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962315"/>
              </p:ext>
            </p:extLst>
          </p:nvPr>
        </p:nvGraphicFramePr>
        <p:xfrm>
          <a:off x="7463512" y="2197585"/>
          <a:ext cx="2516949" cy="2678016"/>
        </p:xfrm>
        <a:graphic>
          <a:graphicData uri="http://schemas.openxmlformats.org/drawingml/2006/table">
            <a:tbl>
              <a:tblPr/>
              <a:tblGrid>
                <a:gridCol w="2516949">
                  <a:extLst>
                    <a:ext uri="{9D8B030D-6E8A-4147-A177-3AD203B41FA5}">
                      <a16:colId xmlns:a16="http://schemas.microsoft.com/office/drawing/2014/main" val="29142754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4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Adminisztrátor</a:t>
                      </a:r>
                      <a:endParaRPr lang="hu-HU" sz="24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25" marR="68525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554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• Kezelés</a:t>
                      </a:r>
                      <a:endParaRPr lang="hu-HU" sz="20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25" marR="51394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502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• Moderálás</a:t>
                      </a:r>
                      <a:endParaRPr lang="hu-HU" sz="20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25" marR="51394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241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• Értesítés</a:t>
                      </a:r>
                      <a:endParaRPr lang="hu-HU" sz="20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25" marR="51394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08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• Üzenetváltás felhasználóval</a:t>
                      </a:r>
                      <a:endParaRPr lang="hu-HU" sz="20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25" marR="51394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35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hu-HU" sz="18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25" marR="51394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218721"/>
                  </a:ext>
                </a:extLst>
              </a:tr>
            </a:tbl>
          </a:graphicData>
        </a:graphic>
      </p:graphicFrame>
      <p:pic>
        <p:nvPicPr>
          <p:cNvPr id="2050" name="Picture 2" descr="Admin icon isolated on white background – Royalty-Free ...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10937" r="16728" b="15612"/>
          <a:stretch/>
        </p:blipFill>
        <p:spPr bwMode="auto">
          <a:xfrm>
            <a:off x="8392735" y="1393830"/>
            <a:ext cx="658501" cy="69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gistered User Icons - Free SVG &amp; PNG Registered User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931" y="1321491"/>
            <a:ext cx="792213" cy="79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uest Icons - Free SVG &amp; PNG Guest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085" y="1415392"/>
            <a:ext cx="562063" cy="55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zövegdoboz 11"/>
          <p:cNvSpPr txBox="1"/>
          <p:nvPr/>
        </p:nvSpPr>
        <p:spPr>
          <a:xfrm>
            <a:off x="0" y="138956"/>
            <a:ext cx="4924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Ki mit tehet a </a:t>
            </a:r>
            <a:r>
              <a:rPr lang="hu-HU" sz="2800" b="1" dirty="0" err="1">
                <a:solidFill>
                  <a:schemeClr val="bg1"/>
                </a:solidFill>
              </a:rPr>
              <a:t>BaTech-ben</a:t>
            </a:r>
            <a:r>
              <a:rPr lang="hu-HU" sz="2800" b="1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24" y="6328568"/>
            <a:ext cx="1162212" cy="362001"/>
          </a:xfrm>
          <a:prstGeom prst="rect">
            <a:avLst/>
          </a:prstGeom>
        </p:spPr>
      </p:pic>
      <p:graphicFrame>
        <p:nvGraphicFramePr>
          <p:cNvPr id="2" name="Táblázat 1">
            <a:extLst>
              <a:ext uri="{FF2B5EF4-FFF2-40B4-BE49-F238E27FC236}">
                <a16:creationId xmlns:a16="http://schemas.microsoft.com/office/drawing/2014/main" id="{F45C6BAA-D74F-4C18-A56E-BB6BB6171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932702"/>
              </p:ext>
            </p:extLst>
          </p:nvPr>
        </p:nvGraphicFramePr>
        <p:xfrm>
          <a:off x="1633643" y="2185874"/>
          <a:ext cx="2516948" cy="2952336"/>
        </p:xfrm>
        <a:graphic>
          <a:graphicData uri="http://schemas.openxmlformats.org/drawingml/2006/table">
            <a:tbl>
              <a:tblPr/>
              <a:tblGrid>
                <a:gridCol w="2516948">
                  <a:extLst>
                    <a:ext uri="{9D8B030D-6E8A-4147-A177-3AD203B41FA5}">
                      <a16:colId xmlns:a16="http://schemas.microsoft.com/office/drawing/2014/main" val="21903595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4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Vendég</a:t>
                      </a:r>
                      <a:endParaRPr lang="hu-HU" sz="24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1394" marR="68525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548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• Böngészés</a:t>
                      </a:r>
                      <a:endParaRPr lang="hu-HU" sz="20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1394" marR="68525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710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•Vélemények megtekintése</a:t>
                      </a:r>
                      <a:endParaRPr lang="hu-HU" sz="20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1394" marR="68525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34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• Referenciák megtekintése</a:t>
                      </a:r>
                      <a:endParaRPr lang="hu-HU" sz="20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1394" marR="68525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57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hu-HU" sz="18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1394" marR="68525" marT="42828" marB="42828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431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hu-HU" sz="18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1394" marR="68525" marT="42828" marB="42828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812796"/>
                  </a:ext>
                </a:extLst>
              </a:tr>
            </a:tbl>
          </a:graphicData>
        </a:graphic>
      </p:graphicFrame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2DDE7902-8848-4B0F-9D37-C96EA735E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204867"/>
              </p:ext>
            </p:extLst>
          </p:nvPr>
        </p:nvGraphicFramePr>
        <p:xfrm>
          <a:off x="4257319" y="2203514"/>
          <a:ext cx="2787436" cy="2403696"/>
        </p:xfrm>
        <a:graphic>
          <a:graphicData uri="http://schemas.openxmlformats.org/drawingml/2006/table">
            <a:tbl>
              <a:tblPr/>
              <a:tblGrid>
                <a:gridCol w="2787436">
                  <a:extLst>
                    <a:ext uri="{9D8B030D-6E8A-4147-A177-3AD203B41FA5}">
                      <a16:colId xmlns:a16="http://schemas.microsoft.com/office/drawing/2014/main" val="563658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4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Felhasználó</a:t>
                      </a:r>
                      <a:endParaRPr lang="hu-HU" sz="24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25" marR="68525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613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• Foglalás</a:t>
                      </a:r>
                      <a:endParaRPr lang="hu-HU" sz="20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25" marR="51394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387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• Profil</a:t>
                      </a:r>
                      <a:endParaRPr lang="hu-HU" sz="20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25" marR="51394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302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• Értékelés írása</a:t>
                      </a:r>
                      <a:endParaRPr lang="hu-HU" sz="20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25" marR="51394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67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• Referencia írása</a:t>
                      </a:r>
                      <a:endParaRPr lang="hu-HU" sz="20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25" marR="51394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0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u-HU" sz="2000" dirty="0"/>
                        <a:t>• Üzenetváltás </a:t>
                      </a:r>
                      <a:r>
                        <a:rPr lang="hu-HU" sz="2000" dirty="0" err="1"/>
                        <a:t>adminnal</a:t>
                      </a:r>
                      <a:endParaRPr lang="hu-HU" sz="2000" b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25" marR="51394" marT="42828" marB="4282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189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855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/>
          <p:nvPr/>
        </p:nvSpPr>
        <p:spPr>
          <a:xfrm rot="225713">
            <a:off x="-195309" y="5760863"/>
            <a:ext cx="12489499" cy="1497412"/>
          </a:xfrm>
          <a:prstGeom prst="rect">
            <a:avLst/>
          </a:prstGeom>
          <a:solidFill>
            <a:srgbClr val="1A1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/>
          <p:cNvSpPr/>
          <p:nvPr/>
        </p:nvSpPr>
        <p:spPr>
          <a:xfrm rot="21430957">
            <a:off x="-319871" y="-364482"/>
            <a:ext cx="12656892" cy="1530097"/>
          </a:xfrm>
          <a:prstGeom prst="rect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/>
          <p:cNvSpPr txBox="1"/>
          <p:nvPr/>
        </p:nvSpPr>
        <p:spPr>
          <a:xfrm>
            <a:off x="0" y="139148"/>
            <a:ext cx="4552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Mit nyer az ügyfél?</a:t>
            </a:r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4" y="6328568"/>
            <a:ext cx="1162212" cy="362001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3C8643AF-99B5-4C20-8F28-DDEF2C232EEF}"/>
              </a:ext>
            </a:extLst>
          </p:cNvPr>
          <p:cNvSpPr txBox="1"/>
          <p:nvPr/>
        </p:nvSpPr>
        <p:spPr>
          <a:xfrm>
            <a:off x="0" y="1408911"/>
            <a:ext cx="6677637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sz="2400" dirty="0"/>
              <a:t>- Látja a szabad időpontokat, és választhat a kínálatból.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- Nem kell telefonálgatnia, nem kell várnia a visszahívásra.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- Saját profilt hozhat létre, és kérdést küldhet a szerelőknek.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- Minden egyszerű, gyors és kényelmes.</a:t>
            </a: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E955663E-2535-4EAC-ADBE-41F124CE4A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23" t="15536" r="28578" b="15474"/>
          <a:stretch/>
        </p:blipFill>
        <p:spPr>
          <a:xfrm>
            <a:off x="6618914" y="1215070"/>
            <a:ext cx="5075339" cy="448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7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/>
          <p:nvPr/>
        </p:nvSpPr>
        <p:spPr>
          <a:xfrm rot="21377470">
            <a:off x="-195309" y="5760863"/>
            <a:ext cx="12489499" cy="1497412"/>
          </a:xfrm>
          <a:prstGeom prst="rect">
            <a:avLst/>
          </a:prstGeom>
          <a:solidFill>
            <a:srgbClr val="1A1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/>
          <p:cNvSpPr/>
          <p:nvPr/>
        </p:nvSpPr>
        <p:spPr>
          <a:xfrm rot="190554">
            <a:off x="-319871" y="-364482"/>
            <a:ext cx="12656892" cy="1530097"/>
          </a:xfrm>
          <a:prstGeom prst="rect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Szövegdoboz 1"/>
          <p:cNvSpPr txBox="1"/>
          <p:nvPr/>
        </p:nvSpPr>
        <p:spPr>
          <a:xfrm>
            <a:off x="0" y="139148"/>
            <a:ext cx="3498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Mit nyer a szerelő?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4" y="6328568"/>
            <a:ext cx="1162212" cy="362001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41A22013-72B8-4873-825A-7492B071A7CE}"/>
              </a:ext>
            </a:extLst>
          </p:cNvPr>
          <p:cNvSpPr txBox="1"/>
          <p:nvPr/>
        </p:nvSpPr>
        <p:spPr>
          <a:xfrm>
            <a:off x="85102" y="1382139"/>
            <a:ext cx="5623724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sz="2400" dirty="0"/>
              <a:t>- Egy helyen látja az összes foglalást és üzenetet.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- Egy gombbal értesítheti az összes felhasználót.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- Tudja követni, hogy melyik munka hol tart.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- Nem kell papírnaplót vezetnie, nem kell állandóan telefonálnia.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E5742E50-8859-4F91-BE76-4776C6DCD7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35" r="537" b="13485"/>
          <a:stretch/>
        </p:blipFill>
        <p:spPr>
          <a:xfrm>
            <a:off x="5708825" y="1837189"/>
            <a:ext cx="6398074" cy="314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4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églalap 21">
            <a:extLst>
              <a:ext uri="{FF2B5EF4-FFF2-40B4-BE49-F238E27FC236}">
                <a16:creationId xmlns:a16="http://schemas.microsoft.com/office/drawing/2014/main" id="{5A11C7E7-68B4-43F2-8850-B8A6DFF95703}"/>
              </a:ext>
            </a:extLst>
          </p:cNvPr>
          <p:cNvSpPr/>
          <p:nvPr/>
        </p:nvSpPr>
        <p:spPr>
          <a:xfrm rot="225713">
            <a:off x="-195309" y="5760863"/>
            <a:ext cx="12489499" cy="1497412"/>
          </a:xfrm>
          <a:prstGeom prst="rect">
            <a:avLst/>
          </a:prstGeom>
          <a:solidFill>
            <a:srgbClr val="1A1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8963BD68-8B25-4324-AFC1-514D13F9E8AF}"/>
              </a:ext>
            </a:extLst>
          </p:cNvPr>
          <p:cNvSpPr/>
          <p:nvPr/>
        </p:nvSpPr>
        <p:spPr>
          <a:xfrm rot="21430957">
            <a:off x="-319871" y="-364482"/>
            <a:ext cx="12656892" cy="1530097"/>
          </a:xfrm>
          <a:prstGeom prst="rect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Szövegdoboz 3"/>
          <p:cNvSpPr txBox="1"/>
          <p:nvPr/>
        </p:nvSpPr>
        <p:spPr>
          <a:xfrm>
            <a:off x="-1" y="138956"/>
            <a:ext cx="555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Fejlesztői eszközök és technológiák</a:t>
            </a:r>
          </a:p>
        </p:txBody>
      </p:sp>
      <p:pic>
        <p:nvPicPr>
          <p:cNvPr id="1026" name="Picture 2" descr="PHP logo PNG transparent image download, size: 960x960p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646" y="2123875"/>
            <a:ext cx="1049612" cy="104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ysql-logo - bgasparott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707" y="4366671"/>
            <a:ext cx="1303862" cy="713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ownload Free Css logo Icons in PNG &amp; SV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793" y="2627113"/>
            <a:ext cx="1049612" cy="104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Javascript Logo png images | PNGEg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5" t="24447" r="24460" b="24854"/>
          <a:stretch/>
        </p:blipFill>
        <p:spPr bwMode="auto">
          <a:xfrm>
            <a:off x="7580631" y="2009221"/>
            <a:ext cx="785290" cy="80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phpMyAdmin Brand Color Codes » BrandColorCode.com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3" t="22484" r="22326" b="31033"/>
          <a:stretch/>
        </p:blipFill>
        <p:spPr bwMode="auto">
          <a:xfrm>
            <a:off x="4143027" y="4474601"/>
            <a:ext cx="1372865" cy="84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File:HTML5 logo and wordmark.svg - Wikimedia Common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6057" y="3880053"/>
            <a:ext cx="1049612" cy="104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Git - Linus Torvald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578" y="2167179"/>
            <a:ext cx="1049612" cy="104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File:Visual Studio Code 1.35 icon.svg - Wikimedia Common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085" y="3340107"/>
            <a:ext cx="1049612" cy="104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How To Install PHP with XAMPP. Hello there, glad to see you here. | by Alwi  Irfani | Medium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404" y="3345912"/>
            <a:ext cx="1325976" cy="137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Kép 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824" y="6328568"/>
            <a:ext cx="1162212" cy="362001"/>
          </a:xfrm>
          <a:prstGeom prst="rect">
            <a:avLst/>
          </a:prstGeom>
        </p:spPr>
      </p:pic>
      <p:sp>
        <p:nvSpPr>
          <p:cNvPr id="2" name="Ellipszis 1">
            <a:extLst>
              <a:ext uri="{FF2B5EF4-FFF2-40B4-BE49-F238E27FC236}">
                <a16:creationId xmlns:a16="http://schemas.microsoft.com/office/drawing/2014/main" id="{7126B90A-703B-4DB2-872C-422DA5241586}"/>
              </a:ext>
            </a:extLst>
          </p:cNvPr>
          <p:cNvSpPr/>
          <p:nvPr/>
        </p:nvSpPr>
        <p:spPr>
          <a:xfrm>
            <a:off x="1526137" y="1444209"/>
            <a:ext cx="6025239" cy="396411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Ellipszis 17">
            <a:extLst>
              <a:ext uri="{FF2B5EF4-FFF2-40B4-BE49-F238E27FC236}">
                <a16:creationId xmlns:a16="http://schemas.microsoft.com/office/drawing/2014/main" id="{4B499D74-5C78-4131-A8A8-FD57AE76A1D8}"/>
              </a:ext>
            </a:extLst>
          </p:cNvPr>
          <p:cNvSpPr/>
          <p:nvPr/>
        </p:nvSpPr>
        <p:spPr>
          <a:xfrm>
            <a:off x="5078190" y="1436914"/>
            <a:ext cx="6025239" cy="396411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20" name="Kép 19">
            <a:extLst>
              <a:ext uri="{FF2B5EF4-FFF2-40B4-BE49-F238E27FC236}">
                <a16:creationId xmlns:a16="http://schemas.microsoft.com/office/drawing/2014/main" id="{4C6BD76D-7D25-4A29-8545-9DEC7F7D5C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88273" y="3173487"/>
            <a:ext cx="1369476" cy="422178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9F3FBF10-D9C7-42DD-8B9B-803E9D7FE7E9}"/>
              </a:ext>
            </a:extLst>
          </p:cNvPr>
          <p:cNvSpPr txBox="1"/>
          <p:nvPr/>
        </p:nvSpPr>
        <p:spPr>
          <a:xfrm>
            <a:off x="3512935" y="1589650"/>
            <a:ext cx="192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Fejlesztő felületek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665DE6C1-4951-4973-B98B-54A7FF8056DA}"/>
              </a:ext>
            </a:extLst>
          </p:cNvPr>
          <p:cNvSpPr txBox="1"/>
          <p:nvPr/>
        </p:nvSpPr>
        <p:spPr>
          <a:xfrm>
            <a:off x="6985678" y="1607625"/>
            <a:ext cx="22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Programozási nyelvek</a:t>
            </a:r>
          </a:p>
        </p:txBody>
      </p:sp>
      <p:pic>
        <p:nvPicPr>
          <p:cNvPr id="1062" name="Picture 38" descr="Github Logo - Free social media icons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768" y="2292287"/>
            <a:ext cx="1049612" cy="104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007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/>
          <p:nvPr/>
        </p:nvSpPr>
        <p:spPr>
          <a:xfrm rot="21377470">
            <a:off x="-195309" y="5760863"/>
            <a:ext cx="12489499" cy="1497412"/>
          </a:xfrm>
          <a:prstGeom prst="rect">
            <a:avLst/>
          </a:prstGeom>
          <a:solidFill>
            <a:srgbClr val="1A1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/>
          <p:cNvSpPr/>
          <p:nvPr/>
        </p:nvSpPr>
        <p:spPr>
          <a:xfrm rot="190554">
            <a:off x="-319871" y="-364482"/>
            <a:ext cx="12656892" cy="1530097"/>
          </a:xfrm>
          <a:prstGeom prst="rect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Szövegdoboz 1"/>
          <p:cNvSpPr txBox="1"/>
          <p:nvPr/>
        </p:nvSpPr>
        <p:spPr>
          <a:xfrm>
            <a:off x="0" y="139148"/>
            <a:ext cx="3498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Jövőbeli tervek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4" y="6328568"/>
            <a:ext cx="1162212" cy="362001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41A22013-72B8-4873-825A-7492B071A7CE}"/>
              </a:ext>
            </a:extLst>
          </p:cNvPr>
          <p:cNvSpPr txBox="1"/>
          <p:nvPr/>
        </p:nvSpPr>
        <p:spPr>
          <a:xfrm>
            <a:off x="7794710" y="2110354"/>
            <a:ext cx="3551807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b="1" dirty="0"/>
              <a:t>3. Online fizetés integráció</a:t>
            </a:r>
            <a:endParaRPr lang="hu-HU" sz="19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dirty="0" err="1"/>
              <a:t>Stripe</a:t>
            </a:r>
            <a:r>
              <a:rPr lang="hu-HU" sz="1900" dirty="0"/>
              <a:t> vagy Barion fizetési átjáró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dirty="0"/>
              <a:t>Előre fizethető szolgáltatások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hu-HU" sz="1900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63C4871-4070-4A4C-8630-2F0853CEA4ED}"/>
              </a:ext>
            </a:extLst>
          </p:cNvPr>
          <p:cNvSpPr txBox="1"/>
          <p:nvPr/>
        </p:nvSpPr>
        <p:spPr>
          <a:xfrm>
            <a:off x="3804200" y="2044781"/>
            <a:ext cx="388358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b="1" dirty="0"/>
              <a:t>2. E-mail értesítések (SMTP)</a:t>
            </a:r>
            <a:endParaRPr lang="hu-HU" sz="19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dirty="0"/>
              <a:t>Automatikus visszaigazoló e-mailek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dirty="0"/>
              <a:t>Emlékeztető a foglalás előtt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hu-HU" sz="1900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542A954-74C6-4448-8225-87A7073BF1FB}"/>
              </a:ext>
            </a:extLst>
          </p:cNvPr>
          <p:cNvSpPr txBox="1"/>
          <p:nvPr/>
        </p:nvSpPr>
        <p:spPr>
          <a:xfrm>
            <a:off x="6060284" y="3901157"/>
            <a:ext cx="4300925" cy="1593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b="1" dirty="0"/>
              <a:t>5. Google </a:t>
            </a:r>
            <a:r>
              <a:rPr lang="hu-HU" sz="1900" b="1" dirty="0" err="1"/>
              <a:t>Calendar</a:t>
            </a:r>
            <a:r>
              <a:rPr lang="hu-HU" sz="1900" b="1" dirty="0"/>
              <a:t> szinkron</a:t>
            </a:r>
            <a:endParaRPr lang="hu-HU" sz="19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dirty="0"/>
              <a:t>Egy kattintással hozzáadható a foglalás a naptárhoz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hu-HU" sz="1900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A778BBC1-AA8D-4FA5-8698-F4A87B710F6B}"/>
              </a:ext>
            </a:extLst>
          </p:cNvPr>
          <p:cNvSpPr txBox="1"/>
          <p:nvPr/>
        </p:nvSpPr>
        <p:spPr>
          <a:xfrm>
            <a:off x="697341" y="2044781"/>
            <a:ext cx="3012745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b="1" dirty="0"/>
              <a:t>1. Több szerelő tényleges támogatása</a:t>
            </a:r>
            <a:endParaRPr lang="hu-HU" sz="19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dirty="0"/>
              <a:t>Naptár nézet </a:t>
            </a:r>
            <a:r>
              <a:rPr lang="hu-HU" sz="1900" dirty="0" err="1"/>
              <a:t>szerelőnként</a:t>
            </a:r>
            <a:endParaRPr lang="hu-HU" sz="19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dirty="0"/>
              <a:t>Foglalási kvóták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hu-HU" sz="1900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239B4148-1575-4865-A67A-5B84C6847EAE}"/>
              </a:ext>
            </a:extLst>
          </p:cNvPr>
          <p:cNvSpPr txBox="1"/>
          <p:nvPr/>
        </p:nvSpPr>
        <p:spPr>
          <a:xfrm>
            <a:off x="1001029" y="3918320"/>
            <a:ext cx="2923053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b="1" dirty="0"/>
              <a:t>4. Mobilalkalmazás (PWA)</a:t>
            </a:r>
            <a:endParaRPr lang="hu-HU" sz="19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dirty="0"/>
              <a:t>Telepíthető verzió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1900" dirty="0" err="1"/>
              <a:t>Push</a:t>
            </a:r>
            <a:r>
              <a:rPr lang="hu-HU" sz="1900" dirty="0"/>
              <a:t> értesítések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hu-HU" sz="1900" dirty="0"/>
          </a:p>
        </p:txBody>
      </p:sp>
      <p:pic>
        <p:nvPicPr>
          <p:cNvPr id="1026" name="Picture 2" descr="Phone icon. Minimalistic smartphone silhouettes in outline and solid styles illustration. Symbol of mobile communication and digital interaction. Portable electronic device sign. vector">
            <a:extLst>
              <a:ext uri="{FF2B5EF4-FFF2-40B4-BE49-F238E27FC236}">
                <a16:creationId xmlns:a16="http://schemas.microsoft.com/office/drawing/2014/main" id="{49DDDFC0-E1FE-49B9-9369-8258011822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57" t="22717" r="32044" b="23674"/>
          <a:stretch/>
        </p:blipFill>
        <p:spPr bwMode="auto">
          <a:xfrm>
            <a:off x="4288339" y="3879035"/>
            <a:ext cx="689861" cy="1090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/stripe - New stripe logo">
            <a:extLst>
              <a:ext uri="{FF2B5EF4-FFF2-40B4-BE49-F238E27FC236}">
                <a16:creationId xmlns:a16="http://schemas.microsoft.com/office/drawing/2014/main" id="{E9E51C2D-AC80-472C-94EF-256ADDCC0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0917" y="1416623"/>
            <a:ext cx="1214018" cy="68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Gmail Logo Icon">
            <a:extLst>
              <a:ext uri="{FF2B5EF4-FFF2-40B4-BE49-F238E27FC236}">
                <a16:creationId xmlns:a16="http://schemas.microsoft.com/office/drawing/2014/main" id="{B67B5A18-395B-46D6-8B9A-C8585491A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956" y="1191815"/>
            <a:ext cx="942004" cy="92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oogle calendar mobile app icon vector, Sandwich, Google Calendar, Calendar PNG and Vector">
            <a:extLst>
              <a:ext uri="{FF2B5EF4-FFF2-40B4-BE49-F238E27FC236}">
                <a16:creationId xmlns:a16="http://schemas.microsoft.com/office/drawing/2014/main" id="{93815F3B-C6BE-44BA-8038-F1DD5155E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0540" y="3914060"/>
            <a:ext cx="1045977" cy="103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roup of people or group of users / friends flat vector icon for apps and websites Stock Vector">
            <a:extLst>
              <a:ext uri="{FF2B5EF4-FFF2-40B4-BE49-F238E27FC236}">
                <a16:creationId xmlns:a16="http://schemas.microsoft.com/office/drawing/2014/main" id="{0C4FED69-F5B3-4DCA-9546-049153588D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3" t="6344" r="8547" b="16535"/>
          <a:stretch/>
        </p:blipFill>
        <p:spPr bwMode="auto">
          <a:xfrm>
            <a:off x="1556579" y="1216131"/>
            <a:ext cx="1042607" cy="7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6416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/>
          <p:nvPr/>
        </p:nvSpPr>
        <p:spPr>
          <a:xfrm rot="21377470">
            <a:off x="-195309" y="5760863"/>
            <a:ext cx="12489499" cy="14974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/>
          <p:cNvSpPr/>
          <p:nvPr/>
        </p:nvSpPr>
        <p:spPr>
          <a:xfrm rot="190554">
            <a:off x="-319871" y="-364482"/>
            <a:ext cx="12656892" cy="1530097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Szövegdoboz 1"/>
          <p:cNvSpPr txBox="1"/>
          <p:nvPr/>
        </p:nvSpPr>
        <p:spPr>
          <a:xfrm>
            <a:off x="2876063" y="2975098"/>
            <a:ext cx="6439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Köszönjük a figyelmet!</a:t>
            </a:r>
          </a:p>
        </p:txBody>
      </p:sp>
      <p:sp>
        <p:nvSpPr>
          <p:cNvPr id="10" name="Téglalap 9"/>
          <p:cNvSpPr/>
          <p:nvPr/>
        </p:nvSpPr>
        <p:spPr>
          <a:xfrm rot="21430957">
            <a:off x="-167471" y="-212082"/>
            <a:ext cx="12656892" cy="1530097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/>
          <p:cNvSpPr/>
          <p:nvPr/>
        </p:nvSpPr>
        <p:spPr>
          <a:xfrm rot="225713">
            <a:off x="-244529" y="5906642"/>
            <a:ext cx="12691337" cy="14974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33797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</Words>
  <Application>Microsoft Office PowerPoint</Application>
  <PresentationFormat>Szélesvásznú</PresentationFormat>
  <Paragraphs>58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Tahoma</vt:lpstr>
      <vt:lpstr>Office-téma</vt:lpstr>
      <vt:lpstr>Prezentáció a batech.hu weboldalról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Rom</dc:creator>
  <cp:lastModifiedBy>Ravasz Rómeó</cp:lastModifiedBy>
  <cp:revision>62</cp:revision>
  <dcterms:created xsi:type="dcterms:W3CDTF">2026-04-24T11:23:51Z</dcterms:created>
  <dcterms:modified xsi:type="dcterms:W3CDTF">2026-04-28T11:24:26Z</dcterms:modified>
</cp:coreProperties>
</file>